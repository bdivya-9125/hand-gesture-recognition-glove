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64359-BC9E-4DEB-9770-B68DC8B51F8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B8F3D-FE74-4A16-9192-777AA63D4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32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B8F3D-FE74-4A16-9192-777AA63D41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35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60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99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3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2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20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7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66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83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08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059E4-E0D7-4150-AD8B-248BD963EAE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9CB25-519C-4C0B-9796-4F5E2350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1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jisrt.com/assets/upload/files/IJISRT20JAN509" TargetMode="External"/><Relationship Id="rId2" Type="http://schemas.openxmlformats.org/officeDocument/2006/relationships/hyperlink" Target="https://youtu.be/INe_2aj-s94?si=l-16L60FzVNOz1u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43187"/>
            <a:ext cx="7772400" cy="401782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Electronics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72000"/>
            <a:ext cx="6400800" cy="60960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BECE204L – Microprocessors and Microcontrollers</a:t>
            </a:r>
          </a:p>
          <a:p>
            <a:r>
              <a:rPr lang="en-US" dirty="0"/>
              <a:t>Project Review - 1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914400"/>
            <a:ext cx="494315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0207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b="1" dirty="0"/>
              <a:t>Hand Gesture Translation Glove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38400"/>
            <a:ext cx="6934200" cy="2667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Team: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Bojja Divya -  23BEC1329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Shreya Ranjitha M – 23BLC1039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Shruti </a:t>
            </a:r>
            <a:r>
              <a:rPr lang="en-US" dirty="0" err="1"/>
              <a:t>Sameeksha</a:t>
            </a:r>
            <a:r>
              <a:rPr lang="en-US" dirty="0"/>
              <a:t> Pradhan – 23BLC1116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Guide:</a:t>
            </a:r>
          </a:p>
          <a:p>
            <a:pPr marL="0" indent="0">
              <a:buNone/>
            </a:pPr>
            <a:r>
              <a:rPr lang="en-US" dirty="0"/>
              <a:t>Abraham </a:t>
            </a:r>
            <a:r>
              <a:rPr lang="en-US" dirty="0" err="1"/>
              <a:t>Sudharson</a:t>
            </a:r>
            <a:r>
              <a:rPr lang="en-US" dirty="0"/>
              <a:t> </a:t>
            </a:r>
            <a:r>
              <a:rPr lang="en-US" dirty="0" err="1"/>
              <a:t>Ponraj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153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D058-0DEB-6610-5C3F-A9322F6C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A479F-E8C8-BBB6-D2AF-CBA7DE9F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The glove is embedded with flex sensors that detect finger bending. A PIC microcontroller (PIC16F877A) will process the sensor inputs, map them to predefined gestures, and communicate the recognized gestures using a Bluetooth module (HC-05). The receiver side (PC/robotic system) will interpret these signals and perform the required actions.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7474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9D9A6-165E-DEFC-1282-5325D80A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82A5A1-0199-05FE-50C7-FA663ABB8163}"/>
              </a:ext>
            </a:extLst>
          </p:cNvPr>
          <p:cNvSpPr/>
          <p:nvPr/>
        </p:nvSpPr>
        <p:spPr>
          <a:xfrm>
            <a:off x="3581400" y="2743200"/>
            <a:ext cx="1905000" cy="2743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F9D729-454B-D316-F854-1CA95BFA9282}"/>
              </a:ext>
            </a:extLst>
          </p:cNvPr>
          <p:cNvSpPr/>
          <p:nvPr/>
        </p:nvSpPr>
        <p:spPr>
          <a:xfrm>
            <a:off x="533400" y="1676400"/>
            <a:ext cx="2514600" cy="1066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Power Supply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2A0917-3466-5B0D-8173-ACAFC95F447A}"/>
              </a:ext>
            </a:extLst>
          </p:cNvPr>
          <p:cNvSpPr/>
          <p:nvPr/>
        </p:nvSpPr>
        <p:spPr>
          <a:xfrm>
            <a:off x="5943600" y="1676400"/>
            <a:ext cx="2743200" cy="1066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16*2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LCD Display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E86457-622F-26BC-9F84-7958EEA0EBB0}"/>
              </a:ext>
            </a:extLst>
          </p:cNvPr>
          <p:cNvSpPr/>
          <p:nvPr/>
        </p:nvSpPr>
        <p:spPr>
          <a:xfrm>
            <a:off x="609600" y="3810000"/>
            <a:ext cx="1905000" cy="2209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C04967-094E-6B1B-FBAB-9F118F160F13}"/>
              </a:ext>
            </a:extLst>
          </p:cNvPr>
          <p:cNvSpPr/>
          <p:nvPr/>
        </p:nvSpPr>
        <p:spPr>
          <a:xfrm>
            <a:off x="6248400" y="3886200"/>
            <a:ext cx="2209800" cy="198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Bluetooth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HC - 05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F2C4D-0AE8-4FA8-C84A-16ADD0CB8169}"/>
              </a:ext>
            </a:extLst>
          </p:cNvPr>
          <p:cNvSpPr txBox="1"/>
          <p:nvPr/>
        </p:nvSpPr>
        <p:spPr>
          <a:xfrm>
            <a:off x="3924300" y="3505200"/>
            <a:ext cx="129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PIC</a:t>
            </a:r>
          </a:p>
          <a:p>
            <a:pPr algn="ctr"/>
            <a:r>
              <a:rPr lang="en-US" dirty="0"/>
              <a:t>16F877a</a:t>
            </a:r>
          </a:p>
          <a:p>
            <a:pPr algn="ctr"/>
            <a:r>
              <a:rPr lang="en-IN" dirty="0"/>
              <a:t>Controller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23846C-9FCC-38D0-4454-168CCEA2DBCA}"/>
              </a:ext>
            </a:extLst>
          </p:cNvPr>
          <p:cNvSpPr txBox="1"/>
          <p:nvPr/>
        </p:nvSpPr>
        <p:spPr>
          <a:xfrm>
            <a:off x="990600" y="442853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4-Flux</a:t>
            </a:r>
          </a:p>
          <a:p>
            <a:pPr algn="ctr"/>
            <a:r>
              <a:rPr lang="en-US" dirty="0"/>
              <a:t>Sensor</a:t>
            </a:r>
            <a:endParaRPr lang="en-I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F602B8-5968-4A09-265A-6796D8950EE6}"/>
              </a:ext>
            </a:extLst>
          </p:cNvPr>
          <p:cNvCxnSpPr>
            <a:stCxn id="5" idx="3"/>
          </p:cNvCxnSpPr>
          <p:nvPr/>
        </p:nvCxnSpPr>
        <p:spPr>
          <a:xfrm>
            <a:off x="3048000" y="2209800"/>
            <a:ext cx="990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EFA565-0063-9B2A-A5B9-05FB68F9F1FE}"/>
              </a:ext>
            </a:extLst>
          </p:cNvPr>
          <p:cNvCxnSpPr/>
          <p:nvPr/>
        </p:nvCxnSpPr>
        <p:spPr>
          <a:xfrm>
            <a:off x="4038600" y="220980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388BCF-AAA1-0DBC-445A-A3DB0020C45C}"/>
              </a:ext>
            </a:extLst>
          </p:cNvPr>
          <p:cNvCxnSpPr/>
          <p:nvPr/>
        </p:nvCxnSpPr>
        <p:spPr>
          <a:xfrm flipV="1">
            <a:off x="5105400" y="2209800"/>
            <a:ext cx="0" cy="533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334091-3F3B-EB30-B5DA-9DD26F038EA2}"/>
              </a:ext>
            </a:extLst>
          </p:cNvPr>
          <p:cNvCxnSpPr/>
          <p:nvPr/>
        </p:nvCxnSpPr>
        <p:spPr>
          <a:xfrm>
            <a:off x="2514600" y="5867400"/>
            <a:ext cx="1219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30F613-9AC1-E024-A352-E3B88ABDF761}"/>
              </a:ext>
            </a:extLst>
          </p:cNvPr>
          <p:cNvCxnSpPr>
            <a:endCxn id="6" idx="1"/>
          </p:cNvCxnSpPr>
          <p:nvPr/>
        </p:nvCxnSpPr>
        <p:spPr>
          <a:xfrm>
            <a:off x="5105400" y="220980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DFA2777-712E-A121-DD7D-3C91EAE4CCA9}"/>
              </a:ext>
            </a:extLst>
          </p:cNvPr>
          <p:cNvCxnSpPr/>
          <p:nvPr/>
        </p:nvCxnSpPr>
        <p:spPr>
          <a:xfrm flipH="1">
            <a:off x="5486400" y="44958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803341-62A3-E748-1CE7-98AC24057161}"/>
              </a:ext>
            </a:extLst>
          </p:cNvPr>
          <p:cNvCxnSpPr/>
          <p:nvPr/>
        </p:nvCxnSpPr>
        <p:spPr>
          <a:xfrm>
            <a:off x="5486400" y="51816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1E0E1D-4273-58BB-4012-E0C41465514C}"/>
              </a:ext>
            </a:extLst>
          </p:cNvPr>
          <p:cNvCxnSpPr/>
          <p:nvPr/>
        </p:nvCxnSpPr>
        <p:spPr>
          <a:xfrm flipV="1">
            <a:off x="3733800" y="54864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D3AC5B8-8EA0-317E-B249-64A0FBF4B226}"/>
              </a:ext>
            </a:extLst>
          </p:cNvPr>
          <p:cNvCxnSpPr/>
          <p:nvPr/>
        </p:nvCxnSpPr>
        <p:spPr>
          <a:xfrm>
            <a:off x="2514600" y="5334000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BA2B980-11B3-ED64-91C1-A4377C72A4C1}"/>
              </a:ext>
            </a:extLst>
          </p:cNvPr>
          <p:cNvCxnSpPr/>
          <p:nvPr/>
        </p:nvCxnSpPr>
        <p:spPr>
          <a:xfrm>
            <a:off x="2514600" y="5029200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01AE343-63BC-EE23-2451-8AF411DA2B04}"/>
              </a:ext>
            </a:extLst>
          </p:cNvPr>
          <p:cNvCxnSpPr/>
          <p:nvPr/>
        </p:nvCxnSpPr>
        <p:spPr>
          <a:xfrm>
            <a:off x="2514600" y="4648200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49B80B0-C0A0-529E-D851-6062EF546EB8}"/>
              </a:ext>
            </a:extLst>
          </p:cNvPr>
          <p:cNvSpPr txBox="1"/>
          <p:nvPr/>
        </p:nvSpPr>
        <p:spPr>
          <a:xfrm>
            <a:off x="2745338" y="4355068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RD0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4DBD1F-D989-5322-B8F3-353F6EEA0E18}"/>
              </a:ext>
            </a:extLst>
          </p:cNvPr>
          <p:cNvSpPr txBox="1"/>
          <p:nvPr/>
        </p:nvSpPr>
        <p:spPr>
          <a:xfrm>
            <a:off x="2735813" y="4730234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RD1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0C6BE8-E308-CCEC-375B-EED11AC296EC}"/>
              </a:ext>
            </a:extLst>
          </p:cNvPr>
          <p:cNvSpPr txBox="1"/>
          <p:nvPr/>
        </p:nvSpPr>
        <p:spPr>
          <a:xfrm>
            <a:off x="2762251" y="5550930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RD3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E43E0F-B2F4-6475-838A-7E52F1581B2B}"/>
              </a:ext>
            </a:extLst>
          </p:cNvPr>
          <p:cNvSpPr txBox="1"/>
          <p:nvPr/>
        </p:nvSpPr>
        <p:spPr>
          <a:xfrm>
            <a:off x="2755641" y="5061465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RD2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8BCBB8-4F5A-AC24-02F1-90C5B16FBD53}"/>
              </a:ext>
            </a:extLst>
          </p:cNvPr>
          <p:cNvSpPr txBox="1"/>
          <p:nvPr/>
        </p:nvSpPr>
        <p:spPr>
          <a:xfrm>
            <a:off x="5562600" y="4124141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RC7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8ECC73-CC23-B194-0D14-25CA694B2B75}"/>
              </a:ext>
            </a:extLst>
          </p:cNvPr>
          <p:cNvSpPr txBox="1"/>
          <p:nvPr/>
        </p:nvSpPr>
        <p:spPr>
          <a:xfrm>
            <a:off x="5562600" y="4814596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RC6</a:t>
            </a: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E09367-8674-6890-CD39-AFC9A9AE1DAD}"/>
              </a:ext>
            </a:extLst>
          </p:cNvPr>
          <p:cNvSpPr txBox="1"/>
          <p:nvPr/>
        </p:nvSpPr>
        <p:spPr>
          <a:xfrm>
            <a:off x="5295899" y="1895753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0515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FB21-BF8B-A235-C2AB-A0DA0F6E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Needed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0DEEF-BD91-E764-EAAA-710B12CD2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/>
              <a:t>Software:</a:t>
            </a:r>
            <a:br>
              <a:rPr lang="en-US" sz="1800" dirty="0"/>
            </a:br>
            <a:r>
              <a:rPr lang="en-US" sz="1800" dirty="0"/>
              <a:t>Bluetooth TS – Android App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Hardware: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EDFCCF-4943-33E7-8EF2-A4F4EAAA1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128259"/>
              </p:ext>
            </p:extLst>
          </p:nvPr>
        </p:nvGraphicFramePr>
        <p:xfrm>
          <a:off x="1447800" y="3060137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4400">
                  <a:extLst>
                    <a:ext uri="{9D8B030D-6E8A-4147-A177-3AD203B41FA5}">
                      <a16:colId xmlns:a16="http://schemas.microsoft.com/office/drawing/2014/main" val="217959713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705824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Component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Cost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97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PIC Controller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99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Hc</a:t>
                      </a:r>
                      <a:r>
                        <a:rPr lang="en-US" dirty="0"/>
                        <a:t> – 05 Bluetooth Module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55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Flex Sensor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1516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495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Bridge Rectifier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650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 Down Transformer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348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ADC output Rectifier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860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Resistors, Wires, Capacitors, LED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6402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359B7F3-07D2-B27D-357E-A45977BF1A50}"/>
              </a:ext>
            </a:extLst>
          </p:cNvPr>
          <p:cNvSpPr txBox="1"/>
          <p:nvPr/>
        </p:nvSpPr>
        <p:spPr>
          <a:xfrm>
            <a:off x="5105400" y="606013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Total: </a:t>
            </a:r>
            <a:r>
              <a:rPr lang="en-US" dirty="0"/>
              <a:t>2810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98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023C-61F2-E677-9D44-2075AA0E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33F25A-F460-7B10-E968-CF26CE543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961569"/>
              </p:ext>
            </p:extLst>
          </p:nvPr>
        </p:nvGraphicFramePr>
        <p:xfrm>
          <a:off x="457200" y="1600200"/>
          <a:ext cx="8229600" cy="335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69559522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43264286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Task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61348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Literature survey, component selection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62988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Sensor interfacing and testing with PIC16F877A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22335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Gesture mapping and processing algorithm development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99151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Bluetooth communication setup and testing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53385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System integration and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36849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7-8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Performance evaluation and debugging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61212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Final testing, documentation, and presentation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7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56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0D706-782B-5C13-15F6-A1D442A4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Paper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ED824-9225-2169-46DA-9D2AFF459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498316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Objective: </a:t>
            </a:r>
            <a:r>
              <a:rPr lang="en-US" dirty="0"/>
              <a:t>Develop a system that recognizes hand gestures using sensors and microcontrollers for applications in robotics, automation, and assistive technology.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Hardware Used: </a:t>
            </a:r>
            <a:r>
              <a:rPr lang="en-US" dirty="0"/>
              <a:t>The system consists of flex sensors (for finger movement detection), an MPU6050 IMU sensor (for hand orientation), and a microcontroller for processing signals.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Processing Method: </a:t>
            </a:r>
            <a:r>
              <a:rPr lang="en-US" dirty="0"/>
              <a:t>The flex sensor and IMU data are analyzed and mapped to predefined gestures, which are then transmitted wirelessly to a receiver.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Communication: </a:t>
            </a:r>
            <a:r>
              <a:rPr lang="en-US" dirty="0"/>
              <a:t>The processed gesture data is sent to an external system (e.g., PC or robotic arm) via Bluetooth or RF modules for interpretation.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Applications: </a:t>
            </a:r>
            <a:r>
              <a:rPr lang="en-US" dirty="0"/>
              <a:t>The paper suggests possible uses in human-computer interaction (HCI), sign language interpretation, and remote robotic control.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Results: </a:t>
            </a:r>
            <a:r>
              <a:rPr lang="en-US" dirty="0"/>
              <a:t>The system successfully identified various gestures with reasonable accuracy, making it a viable solution for gesture-based controls.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66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9CA81-9882-B1E0-27C7-E4B6DE84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82B18-B14D-BF93-841E-E3BCEA395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/>
          </a:bodyPr>
          <a:lstStyle/>
          <a:p>
            <a:r>
              <a:rPr lang="en-IN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https://youtu.be/INe_2aj-s94?si=l-16L60FzVNOz1u8</a:t>
            </a:r>
            <a:endParaRPr lang="en-IN" sz="2800" dirty="0"/>
          </a:p>
          <a:p>
            <a:r>
              <a:rPr lang="en-IN" sz="2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https://ijisrt.com/assets/upload/files/IJISRT20JAN509</a:t>
            </a:r>
            <a:endParaRPr lang="en-IN" sz="2800" dirty="0"/>
          </a:p>
          <a:p>
            <a:r>
              <a:rPr lang="en-IN" sz="2800" u="sng" dirty="0"/>
              <a:t>https://ieeexplore.ieee.org/abstract/document/7034156/</a:t>
            </a:r>
          </a:p>
        </p:txBody>
      </p:sp>
    </p:spTree>
    <p:extLst>
      <p:ext uri="{BB962C8B-B14F-4D97-AF65-F5344CB8AC3E}">
        <p14:creationId xmlns:p14="http://schemas.microsoft.com/office/powerpoint/2010/main" val="66650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417</Words>
  <Application>Microsoft Office PowerPoint</Application>
  <PresentationFormat>On-screen Show (4:3)</PresentationFormat>
  <Paragraphs>86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School of Electronics Engineering</vt:lpstr>
      <vt:lpstr>Hand Gesture Translation Glove</vt:lpstr>
      <vt:lpstr>Overview</vt:lpstr>
      <vt:lpstr>Block Diagram</vt:lpstr>
      <vt:lpstr>Components Needed</vt:lpstr>
      <vt:lpstr>Timeline</vt:lpstr>
      <vt:lpstr>Base Paper Analysis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RBL Zeroth Review</dc:title>
  <dc:creator>Windows User</dc:creator>
  <cp:lastModifiedBy>Shreya Ranjitha M</cp:lastModifiedBy>
  <cp:revision>8</cp:revision>
  <dcterms:created xsi:type="dcterms:W3CDTF">2019-07-23T07:33:39Z</dcterms:created>
  <dcterms:modified xsi:type="dcterms:W3CDTF">2025-02-13T17:24:00Z</dcterms:modified>
</cp:coreProperties>
</file>